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256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2753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02920" y="647395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Segmentação de Clientes | K-Means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601200" y="647395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Science Case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675120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5212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SEGMENTAÇÃO DE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CLIENTES COM K-MEANS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27432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</a:rPr>
              <a:t>Projeto de Machine Learning Não Supervisionado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3337560"/>
            <a:ext cx="1234440" cy="292608"/>
          </a:xfrm>
          <a:prstGeom prst="roundRect">
            <a:avLst>
              <a:gd name="adj" fmla="val 1562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31520" y="3392424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CLUSTERING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011680" y="3337560"/>
            <a:ext cx="1051560" cy="292608"/>
          </a:xfrm>
          <a:prstGeom prst="roundRect">
            <a:avLst>
              <a:gd name="adj" fmla="val 15625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2084832" y="3392424"/>
            <a:ext cx="905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K-MEANS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58368" y="3977640"/>
            <a:ext cx="521208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</a:rPr>
              <a:t>Objetivo: identificar perfis comportamentais de clientes e transformar os clusters em uma segmentação reutilizável.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" y="58978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Base: Credit Card Customer Data | Kaggle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52360" y="3474720"/>
            <a:ext cx="338328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Problema de negócio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De uma carteira heterogênea para segmentos acionáveis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</a:rPr>
              <a:t>Instituições financeiras não precisam tratar todos os clientes da mesma forma.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66928" y="1947672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54132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</a:rPr>
              <a:t>Clientes apresentam diferentes níveis de crédito e diferentes padrões de relacionamento.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2907792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54132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</a:rPr>
              <a:t>A mesma estratégia de atendimento ou oferta pode ser ineficiente para perfis distintos.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6928" y="3867912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31520" y="3794760"/>
            <a:ext cx="54132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</a:rPr>
              <a:t>O objetivo foi descobrir grupos homogêneos sem uma variável-alvo previamente definida.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95160" y="1645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Pergunta central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95160" y="2103120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</a:rPr>
              <a:t>“Quais perfis de clientes existem na base e como cada perfil pode ser trabalhado?”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068312" y="4242816"/>
            <a:ext cx="1636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NÃO SUPERVISIONADO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608076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Objetivo do negócio: segmentar clientes por comportamento, não por uma classe previamente rotulada.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Entendimento dos dados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O que entrou no projeto e quais decisões foram tomadas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1965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73152" cy="13258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67512" y="1426464"/>
            <a:ext cx="1709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REGISTROS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67512" y="1700784"/>
            <a:ext cx="170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</a:rPr>
              <a:t>660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667512" y="2203704"/>
            <a:ext cx="1709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Observações da base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651760" y="1280160"/>
            <a:ext cx="1965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2651760" y="1280160"/>
            <a:ext cx="7315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2816352" y="1426464"/>
            <a:ext cx="1709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VARIÁVEIS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816352" y="1700784"/>
            <a:ext cx="170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</a:rPr>
              <a:t>7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2816352" y="2203704"/>
            <a:ext cx="1709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2 identificadores + 5 comportamentais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800600" y="1280160"/>
            <a:ext cx="1965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4800600" y="1280160"/>
            <a:ext cx="73152" cy="1325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965192" y="1426464"/>
            <a:ext cx="1709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NULOS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65192" y="1700784"/>
            <a:ext cx="170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</a:rPr>
              <a:t>0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4965192" y="2203704"/>
            <a:ext cx="1709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Nenhum valor ausente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949440" y="1280160"/>
            <a:ext cx="1965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6949440" y="1280160"/>
            <a:ext cx="73152" cy="1325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114032" y="1426464"/>
            <a:ext cx="1709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DUPLICADOS EXATOS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14032" y="1700784"/>
            <a:ext cx="170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</a:rPr>
              <a:t>0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7114032" y="2203704"/>
            <a:ext cx="1709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Nenhuma linha idêntica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098280" y="1280160"/>
            <a:ext cx="1965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9098280" y="1280160"/>
            <a:ext cx="73152" cy="1325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9262872" y="1426464"/>
            <a:ext cx="1709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CUSTOMER KEYS REPETIDAS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262872" y="1700784"/>
            <a:ext cx="170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</a:rPr>
              <a:t>5</a:t>
            </a:r>
            <a:endParaRPr lang="en-US" sz="2300" dirty="0"/>
          </a:p>
        </p:txBody>
      </p:sp>
      <p:sp>
        <p:nvSpPr>
          <p:cNvPr id="28" name="Text 26"/>
          <p:cNvSpPr/>
          <p:nvPr/>
        </p:nvSpPr>
        <p:spPr>
          <a:xfrm>
            <a:off x="9262872" y="2203704"/>
            <a:ext cx="1709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10 registros envolvidos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02920" y="30175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Features utilizadas no clustering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3429000"/>
            <a:ext cx="3246120" cy="438912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612648" y="354787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Avg_Credit_Limit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023360" y="3429000"/>
            <a:ext cx="3246120" cy="438912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4133088" y="354787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Total_Credit_Cards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543800" y="3429000"/>
            <a:ext cx="3246120" cy="438912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7653528" y="354787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Total_visits_bank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" y="4160520"/>
            <a:ext cx="3246120" cy="438912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612648" y="427939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Total_visits_online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023360" y="4160520"/>
            <a:ext cx="3246120" cy="438912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4133088" y="427939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</a:rPr>
              <a:t>Total_calls_made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379208" y="41330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Decisão sobre Customer Keys repetidas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406640" y="4133088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As 5 chaves repetidas foram mantidas porque os registros associados apresentavam características diferentes e não eram duplicados exatos. Como não havia evidência suficiente para descartar um deles, a decisão foi preservar as observações e excluir a chave apenas da modelagem.</a:t>
            </a:r>
            <a:endParaRPr lang="en-US" sz="115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EDA: sinais antes do modelo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 análise exploratória indicou padrões de comportamento relevantes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Correlações mais relevantes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64592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Limite × cartões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0" y="1627632"/>
            <a:ext cx="914400" cy="347472"/>
          </a:xfrm>
          <a:prstGeom prst="roundRect">
            <a:avLst>
              <a:gd name="adj" fmla="val 10526"/>
            </a:avLst>
          </a:prstGeom>
          <a:solidFill>
            <a:srgbClr val="E8EFFC"/>
          </a:solidFill>
          <a:ln w="12700">
            <a:solidFill>
              <a:srgbClr val="E8EF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2990088" y="17007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4ED8"/>
                </a:solidFill>
              </a:rPr>
              <a:t>0,61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3957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Limite × online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26080" y="2377440"/>
            <a:ext cx="914400" cy="347472"/>
          </a:xfrm>
          <a:prstGeom prst="roundRect">
            <a:avLst>
              <a:gd name="adj" fmla="val 10526"/>
            </a:avLst>
          </a:prstGeom>
          <a:solidFill>
            <a:srgbClr val="E8EFFC"/>
          </a:solidFill>
          <a:ln w="12700">
            <a:solidFill>
              <a:srgbClr val="E8EF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2990088" y="245059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766E"/>
                </a:solidFill>
              </a:rPr>
              <a:t>0,55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14553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Cartões × ligações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26080" y="3127248"/>
            <a:ext cx="914400" cy="347472"/>
          </a:xfrm>
          <a:prstGeom prst="roundRect">
            <a:avLst>
              <a:gd name="adj" fmla="val 10526"/>
            </a:avLst>
          </a:prstGeom>
          <a:solidFill>
            <a:srgbClr val="E8EFFC"/>
          </a:solidFill>
          <a:ln w="12700">
            <a:solidFill>
              <a:srgbClr val="E8EF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2990088" y="320040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</a:rPr>
              <a:t>-0,65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89534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</a:rPr>
              <a:t>Banco × ligações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26080" y="3877056"/>
            <a:ext cx="914400" cy="347472"/>
          </a:xfrm>
          <a:prstGeom prst="roundRect">
            <a:avLst>
              <a:gd name="adj" fmla="val 10526"/>
            </a:avLst>
          </a:prstGeom>
          <a:solidFill>
            <a:srgbClr val="E8EFFC"/>
          </a:solidFill>
          <a:ln w="12700">
            <a:solidFill>
              <a:srgbClr val="E8EF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2990088" y="395020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</a:rPr>
              <a:t>-0,51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1234440"/>
            <a:ext cx="649224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892040" y="15087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Escalas e outliers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192024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F172A"/>
                </a:solidFill>
              </a:rPr>
              <a:t>Avg_Credit_Limit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7040880" y="192024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4748B"/>
                </a:solidFill>
              </a:rPr>
              <a:t>3.000 – 200.000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8915400" y="19202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D97706"/>
                </a:solidFill>
              </a:rPr>
              <a:t>38 outliers (5,85%)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4892040" y="235915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F172A"/>
                </a:solidFill>
              </a:rPr>
              <a:t>Total_Credit_Cards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7040880" y="235915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4748B"/>
                </a:solidFill>
              </a:rPr>
              <a:t>1 – 10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8915400" y="23591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4748B"/>
                </a:solidFill>
              </a:rPr>
              <a:t>0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4892040" y="279806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F172A"/>
                </a:solidFill>
              </a:rPr>
              <a:t>Total_visits_bank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7040880" y="279806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4748B"/>
                </a:solidFill>
              </a:rPr>
              <a:t>0 – 5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8915400" y="279806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4748B"/>
                </a:solidFill>
              </a:rPr>
              <a:t>0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4892040" y="323697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F172A"/>
                </a:solidFill>
              </a:rPr>
              <a:t>Total_visits_online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7040880" y="323697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4748B"/>
                </a:solidFill>
              </a:rPr>
              <a:t>0 – 15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8915400" y="323697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D97706"/>
                </a:solidFill>
              </a:rPr>
              <a:t>36 outliers (5,54%)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4892040" y="367588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0F172A"/>
                </a:solidFill>
              </a:rPr>
              <a:t>Total_calls_made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7040880" y="367588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4748B"/>
                </a:solidFill>
              </a:rPr>
              <a:t>0 – 10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8915400" y="367588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4748B"/>
                </a:solidFill>
              </a:rPr>
              <a:t>0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502920" y="45720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Decisões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66928" y="5029200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731520" y="4956048"/>
            <a:ext cx="102595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Outliers foram mantidos: poderiam representar perfis reais e relevantes para a segmentação.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566928" y="5486400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731520" y="5413248"/>
            <a:ext cx="102595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Sl_No e Customer Key foram retirados das features: são identificadores, não comportamento.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566928" y="5943600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731520" y="5870448"/>
            <a:ext cx="102595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A diferença de escala tornou a padronização obrigatória antes do K-Means.</a:t>
            </a:r>
            <a:endParaRPr lang="en-US" sz="125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Preparação do modelo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Da matriz original para uma entrada adequada ao K-Means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2926080" cy="32004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14400" y="17830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</a:rPr>
              <a:t>Matriz de modelagem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23317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F172A"/>
                </a:solidFill>
              </a:rPr>
              <a:t>660 registros ×</a:t>
            </a:r>
            <a:endParaRPr lang="en-US" sz="2500" dirty="0"/>
          </a:p>
          <a:p>
            <a:pPr marL="0" indent="0" algn="ctr">
              <a:buNone/>
            </a:pPr>
            <a:r>
              <a:rPr lang="en-US" sz="2500" b="1" dirty="0">
                <a:solidFill>
                  <a:srgbClr val="0F172A"/>
                </a:solidFill>
              </a:rPr>
              <a:t>5 features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Variáveis comportamentais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0" y="3063240"/>
            <a:ext cx="114300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4892040" y="1463040"/>
            <a:ext cx="2331720" cy="3200400"/>
          </a:xfrm>
          <a:prstGeom prst="roundRect">
            <a:avLst>
              <a:gd name="adj" fmla="val 313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212080" y="18745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4ED8"/>
                </a:solidFill>
              </a:rPr>
              <a:t>StandardScaler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212080" y="25603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F172A"/>
                </a:solidFill>
              </a:rPr>
              <a:t>Média ≈ 0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0F172A"/>
                </a:solidFill>
              </a:rPr>
              <a:t>Desvio padrão ≈ 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212080" y="37033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Evita que o limite de crédito domine as distâncias.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269480" y="3063240"/>
            <a:ext cx="114300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8549640" y="146304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9098280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766E"/>
                </a:solidFill>
              </a:rPr>
              <a:t>X_scaled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9189720" y="2514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</a:rPr>
              <a:t>660 × 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961120" y="33375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Matriz pronta para o cálculo de distâncias do K-Means.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608076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A padronização não remove comportamentos; apenas coloca todas as features em uma escala comparável.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Definição do número de clusters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Escolha baseada em evidência, não em arbitragem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Silhouette Score por 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2744630"/>
            <a:ext cx="320040" cy="233029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67512" y="519379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188720" y="2202715"/>
            <a:ext cx="320040" cy="2872205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170432" y="519379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3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60120" y="1910107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4ED8"/>
                </a:solidFill>
              </a:rPr>
              <a:t>0,5157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91640" y="3093839"/>
            <a:ext cx="320040" cy="1981081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673352" y="519379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4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194560" y="3561679"/>
            <a:ext cx="320040" cy="1513241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2176272" y="519379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5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697480" y="3649121"/>
            <a:ext cx="320040" cy="1425799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2679192" y="519379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0" y="3692563"/>
            <a:ext cx="320040" cy="1382357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3182112" y="519379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7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703320" y="3810080"/>
            <a:ext cx="320040" cy="12648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3685032" y="519379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8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206240" y="3882484"/>
            <a:ext cx="320040" cy="119243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187952" y="519379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9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09160" y="3884712"/>
            <a:ext cx="320040" cy="119020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4690872" y="519379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10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86400" y="1325880"/>
            <a:ext cx="571500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5806440" y="16642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Por que K = 3?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5806440" y="2313432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5971032" y="2240280"/>
            <a:ext cx="45902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</a:rPr>
              <a:t>Maior Silhouette Score: 0,5157.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06440" y="2971800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5971032" y="2898648"/>
            <a:ext cx="45902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</a:rPr>
              <a:t>Grande ganho de compactação ao passar de K=2 para K=3.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06440" y="3630168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5971032" y="3557016"/>
            <a:ext cx="45902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</a:rPr>
              <a:t>A partir de K=4, o Silhouette cai de forma acentuada.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806440" y="4288536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5971032" y="4215384"/>
            <a:ext cx="459028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</a:rPr>
              <a:t>A curva da inércia também mostra forte redução até K=3 e ganhos menores depois.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06440" y="4892040"/>
            <a:ext cx="1097280" cy="292608"/>
          </a:xfrm>
          <a:prstGeom prst="roundRect">
            <a:avLst>
              <a:gd name="adj" fmla="val 15625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5879592" y="4946904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K = 3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086600" y="4919472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3 grupos oferecem o melhor equilíbrio entre separação e complexidade.</a:t>
            </a:r>
            <a:endParaRPr lang="en-US" sz="11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Resultado do clustering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Três segmentos com padrões comportamentais distintos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3063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73152" cy="15544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58952" y="1472184"/>
            <a:ext cx="2807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CLUSTER 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58952" y="1746504"/>
            <a:ext cx="2807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</a:rPr>
              <a:t>386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58952" y="2478024"/>
            <a:ext cx="2807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58,48% da base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069080" y="1325880"/>
            <a:ext cx="3063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069080" y="1325880"/>
            <a:ext cx="73152" cy="1554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233672" y="1472184"/>
            <a:ext cx="2807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CLUSTER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33672" y="1746504"/>
            <a:ext cx="2807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</a:rPr>
              <a:t>50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4233672" y="2478024"/>
            <a:ext cx="2807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7,58% da base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543800" y="1325880"/>
            <a:ext cx="3063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7543800" y="1325880"/>
            <a:ext cx="73152" cy="1554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708392" y="1472184"/>
            <a:ext cx="2807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CLUSTER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08392" y="1746504"/>
            <a:ext cx="2807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</a:rPr>
              <a:t>224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7708392" y="2478024"/>
            <a:ext cx="2807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33,94% da base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" y="33375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O que diferencia os grupos?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" y="3657600"/>
            <a:ext cx="32461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850392" y="3840480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Cluster 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0392" y="4187952"/>
            <a:ext cx="2743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4748B"/>
                </a:solidFill>
              </a:rPr>
              <a:t>↑ visitas banco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850392" y="4443984"/>
            <a:ext cx="2743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4748B"/>
                </a:solidFill>
              </a:rPr>
              <a:t>↓ uso online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850392" y="4700016"/>
            <a:ext cx="2743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4748B"/>
                </a:solidFill>
              </a:rPr>
              <a:t>↑ cartões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4480560" y="3657600"/>
            <a:ext cx="32461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645152" y="3840480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Cluster 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45152" y="4187952"/>
            <a:ext cx="2743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4748B"/>
                </a:solidFill>
              </a:rPr>
              <a:t>↑↑ limite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4645152" y="4443984"/>
            <a:ext cx="2743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4748B"/>
                </a:solidFill>
              </a:rPr>
              <a:t>↑↑ uso online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4645152" y="4700016"/>
            <a:ext cx="2743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4748B"/>
                </a:solidFill>
              </a:rPr>
              <a:t>↑↑ cartões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8275320" y="3657600"/>
            <a:ext cx="32461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8439912" y="3840480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Cluster 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439912" y="4187952"/>
            <a:ext cx="2743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4748B"/>
                </a:solidFill>
              </a:rPr>
              <a:t>↑↑ ligações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8439912" y="4443984"/>
            <a:ext cx="2743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4748B"/>
                </a:solidFill>
              </a:rPr>
              <a:t>↓ limite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8439912" y="4700016"/>
            <a:ext cx="2743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4748B"/>
                </a:solidFill>
              </a:rPr>
              <a:t>↓ cartões</a:t>
            </a:r>
            <a:endParaRPr lang="en-US" sz="98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Perfil dos segmentos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 leitura de negócio vem dos valores reais dos clusters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</a:rPr>
              <a:t>Segmento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240280" y="1234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</a:rPr>
              <a:t>Limite médio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160520" y="1234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</a:rPr>
              <a:t>Cartões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760720" y="1234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</a:rPr>
              <a:t>Visitas banco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0" y="1234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</a:rPr>
              <a:t>Visitas online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869680" y="1234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</a:rPr>
              <a:t>Ligações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378440" y="1234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</a:rPr>
              <a:t>% base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157276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02920" y="1783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Relacionamento Presencial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40280" y="1783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33.782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60520" y="1783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5,52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76072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3,49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31520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0,98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86968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2,00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378440" y="1783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58,48%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8912" y="2468880"/>
            <a:ext cx="11201400" cy="640080"/>
          </a:xfrm>
          <a:prstGeom prst="roundRect">
            <a:avLst>
              <a:gd name="adj" fmla="val 714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02920" y="25877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Relacionamento Digital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40280" y="25877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141.040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160520" y="25877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8,74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760720" y="2587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0,60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315200" y="2587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10,90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869680" y="2587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1,08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378440" y="25877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7,58%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2920" y="33924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Relacionamento Assistido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240280" y="33924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12.174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160520" y="33924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2,41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760720" y="33924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0,93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315200" y="33924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3,55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869680" y="33924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</a:rPr>
              <a:t>6,87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378440" y="33924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</a:rPr>
              <a:t>33,94%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02920" y="45262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Leitura rápida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4360" y="4892040"/>
            <a:ext cx="107899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• Cluster 0 concentra a maior parte da carteira e depende mais do atendimento físico.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• Cluster 1 é pequeno, mas possui o maior limite, mais cartões e uso digital muito acima da média.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• Cluster 2 tem menor relacionamento financeiro e maior uso do telefone.</a:t>
            </a:r>
            <a:endParaRPr lang="en-US" sz="125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Oportunidades de negócio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Transformando clusters em ações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108960" cy="43891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108960" cy="1280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1737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Relacionamento Presencial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49808" y="2587752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914400" y="2514600"/>
            <a:ext cx="253288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Digitalizar operações simples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49808" y="3410712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914400" y="3337560"/>
            <a:ext cx="253288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Usar agência para interações de maior valor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9808" y="4233672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914400" y="4160520"/>
            <a:ext cx="253288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Criar jornadas híbridas de atendimento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60520" y="1371600"/>
            <a:ext cx="3108960" cy="43891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160520" y="1371600"/>
            <a:ext cx="3108960" cy="128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389120" y="1737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Relacionamento Digital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361688" y="2587752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526280" y="2514600"/>
            <a:ext cx="253288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Personalizar ofertas digitais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61688" y="3410712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526280" y="3337560"/>
            <a:ext cx="253288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Cross-sell e up-sell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61688" y="4233672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526280" y="4160520"/>
            <a:ext cx="253288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Foco em retenção e fidelização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72400" y="1371600"/>
            <a:ext cx="3108960" cy="43891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7772400" y="1371600"/>
            <a:ext cx="3108960" cy="12801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8001000" y="1737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</a:rPr>
              <a:t>Relacionamento Assistido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7973568" y="2587752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8138160" y="2514600"/>
            <a:ext cx="253288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Investigar motivo das ligações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973568" y="3410712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8138160" y="3337560"/>
            <a:ext cx="253288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Reduzir atrito e incentivar autosserviço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973568" y="4233672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8138160" y="4160520"/>
            <a:ext cx="253288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Desenvolver relacionamento com produtos</a:t>
            </a:r>
            <a:endParaRPr lang="en-US" sz="12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Validação visual com PCA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Os clusters também foram projetados em duas dimensões para facilitar a leitura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73152" cy="1417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58952" y="1472184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PC1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58952" y="1746504"/>
            <a:ext cx="2167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</a:rPr>
              <a:t>45,74%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58952" y="2340864"/>
            <a:ext cx="2167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variância explicada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46120" y="132588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246120" y="1325880"/>
            <a:ext cx="73152" cy="1417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3410712" y="1472184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PC2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10712" y="1746504"/>
            <a:ext cx="2167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</a:rPr>
              <a:t>37,43%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3410712" y="2340864"/>
            <a:ext cx="2167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variância explicada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897880" y="132588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5897880" y="1325880"/>
            <a:ext cx="73152" cy="1417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062472" y="1472184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ACUMULADA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062472" y="1746504"/>
            <a:ext cx="2167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</a:rPr>
              <a:t>83,16%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6062472" y="2340864"/>
            <a:ext cx="2167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PC1 + PC2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549640" y="1325880"/>
            <a:ext cx="2651760" cy="41605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8869680" y="1691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O que isso significa?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869680" y="2240280"/>
            <a:ext cx="1965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</a:rPr>
              <a:t>As duas dimensões preservam 83,16% da variabilidade dos dados, permitindo visualizar a estrutura dos clusters com perda relativamente pequena de informação.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942832" y="4123944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VALIDAÇÃO VISUAL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94360" y="3246120"/>
            <a:ext cx="754380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914400" y="34930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Visualização conceitual dos clusters no espaço PCA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143000" y="5074920"/>
            <a:ext cx="630936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1143000" y="5074920"/>
            <a:ext cx="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1920240" y="4617720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2148840" y="4434840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2286000" y="4709160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2560320" y="4498848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4480560" y="3840480"/>
            <a:ext cx="118872" cy="1188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4754880" y="3657600"/>
            <a:ext cx="118872" cy="1188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4892040" y="3977640"/>
            <a:ext cx="118872" cy="1188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5166360" y="3703320"/>
            <a:ext cx="118872" cy="11887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6217920" y="4709160"/>
            <a:ext cx="118872" cy="1188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Shape 35"/>
          <p:cNvSpPr/>
          <p:nvPr/>
        </p:nvSpPr>
        <p:spPr>
          <a:xfrm>
            <a:off x="6446520" y="4892040"/>
            <a:ext cx="118872" cy="1188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Shape 36"/>
          <p:cNvSpPr/>
          <p:nvPr/>
        </p:nvSpPr>
        <p:spPr>
          <a:xfrm>
            <a:off x="6675120" y="4617720"/>
            <a:ext cx="118872" cy="1188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Shape 37"/>
          <p:cNvSpPr/>
          <p:nvPr/>
        </p:nvSpPr>
        <p:spPr>
          <a:xfrm>
            <a:off x="6858000" y="4919472"/>
            <a:ext cx="118872" cy="1188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713232" y="3657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PC2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269480" y="51389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PC1</a:t>
            </a:r>
            <a:endParaRPr lang="en-US" sz="8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Modelo operacional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Do notebook para uma aplicação reutilizável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2423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463040" y="1325880"/>
            <a:ext cx="685800" cy="68580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627632" y="14996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5528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Entrada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5 features do novo cliente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17520" y="2606040"/>
            <a:ext cx="411480" cy="0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429000" y="1600200"/>
            <a:ext cx="2423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297680" y="1325880"/>
            <a:ext cx="685800" cy="6858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462272" y="14996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30168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Padronização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0" y="26060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StandardScaler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52160" y="2606040"/>
            <a:ext cx="411480" cy="0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6263640" y="1600200"/>
            <a:ext cx="2423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7132320" y="1325880"/>
            <a:ext cx="685800" cy="6858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296912" y="14996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64808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Segmentação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2240" y="26060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K-Means com K=3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686800" y="2606040"/>
            <a:ext cx="411480" cy="0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9098280" y="1600200"/>
            <a:ext cx="2423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9966960" y="1325880"/>
            <a:ext cx="685800" cy="6858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10131552" y="14996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299448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Saída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326880" y="26060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Cluster + Perfil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4360" y="4251960"/>
            <a:ext cx="5120640" cy="1143000"/>
          </a:xfrm>
          <a:prstGeom prst="roundRect">
            <a:avLst>
              <a:gd name="adj" fmla="val 48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868680" y="45079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</a:rPr>
              <a:t>Artefato 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68680" y="484632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segmentacao_clientes_kmeans.pkl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68680" y="513892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Pipeline completo: scaler + K-Means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72200" y="4251960"/>
            <a:ext cx="5120640" cy="1143000"/>
          </a:xfrm>
          <a:prstGeom prst="roundRect">
            <a:avLst>
              <a:gd name="adj" fmla="val 48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6446520" y="45079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66E"/>
                </a:solidFill>
              </a:rPr>
              <a:t>Artefato 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46520" y="48463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clientes_segmentados.csv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46520" y="513892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Base com cluster e perfil atribuído</a:t>
            </a:r>
            <a:endParaRPr lang="en-US" sz="9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 Limitações e próximos passos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Onde o modelo ainda pode ganhar profundidade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Limitações atuais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313432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078992" y="2240280"/>
            <a:ext cx="440740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A segmentação usa apenas cinco características comportamentais.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14400" y="3063240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078992" y="2990088"/>
            <a:ext cx="440740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Não há renda, rentabilidade, inadimplência, saldo ou histórico transacional.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02424" y="3886200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078992" y="3813048"/>
            <a:ext cx="440740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K-Means é sensível à escala e pode ser influenciado por valores extremos.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09360" y="1325880"/>
            <a:ext cx="530352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629400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Próximos passos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629400" y="2313432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793992" y="2240280"/>
            <a:ext cx="440740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Adicionar variáveis financeiras e transacionais para enriquecer os segmentos.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629400" y="3063240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793992" y="2990088"/>
            <a:ext cx="440740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Validar as hipóteses comerciais com resultados reais de campanhas e atendimento.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629400" y="3813048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793992" y="3739896"/>
            <a:ext cx="440740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Monitorar estabilidade dos clusters ao longo do tempo e retreinar quando necessário.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12. Conclusão executiva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O que este projeto entrega ao negócio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10972800" cy="1280160"/>
          </a:xfrm>
          <a:prstGeom prst="roundRect">
            <a:avLst>
              <a:gd name="adj" fmla="val 571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14400" y="166420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</a:rPr>
              <a:t>O K-Means revelou três padrões de relacionamento claramente distintos.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94360" y="2971800"/>
            <a:ext cx="32004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94360" y="2971800"/>
            <a:ext cx="73152" cy="1508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58952" y="3118104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SEGMENTAÇÃO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58952" y="3392424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</a:rPr>
              <a:t>3 perfis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58952" y="4078224"/>
            <a:ext cx="2944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Presencial, Digital e Assistido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160520" y="2971800"/>
            <a:ext cx="32004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160520" y="2971800"/>
            <a:ext cx="73152" cy="15087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325112" y="3118104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QUALIDADE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325112" y="3392424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</a:rPr>
              <a:t>0,5157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4325112" y="4078224"/>
            <a:ext cx="2944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Silhouette Score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726680" y="2971800"/>
            <a:ext cx="32004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7726680" y="2971800"/>
            <a:ext cx="73152" cy="1508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891272" y="3118104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USO FUTURO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891272" y="3392424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</a:rPr>
              <a:t>.pkl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7891272" y="4078224"/>
            <a:ext cx="2944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Modelo reutilizável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94360" y="4983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Mensagem final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530352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O valor do projeto está em transformar dados comportamentais em uma segmentação que pode orientar atendimento, comunicação, ofertas e futuras aplicações de CRM.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1107</Words>
  <Application>Microsoft Office PowerPoint</Application>
  <PresentationFormat>Widescreen</PresentationFormat>
  <Paragraphs>266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Data Science Case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Segmentação de Clientes com K-Means</dc:title>
  <dc:subject>Projeto de segmentação de clientes com K-Means</dc:subject>
  <dc:creator>OpenAI</dc:creator>
  <cp:lastModifiedBy>fabíola mitie moreno shimabukuro</cp:lastModifiedBy>
  <cp:revision>2</cp:revision>
  <dcterms:created xsi:type="dcterms:W3CDTF">2026-08-13T18:55:02Z</dcterms:created>
  <dcterms:modified xsi:type="dcterms:W3CDTF">2026-08-14T20:53:23Z</dcterms:modified>
</cp:coreProperties>
</file>